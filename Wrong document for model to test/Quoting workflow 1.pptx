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635"/>
  </p:normalViewPr>
  <p:slideViewPr>
    <p:cSldViewPr snapToGrid="0">
      <p:cViewPr varScale="1">
        <p:scale>
          <a:sx n="115" d="100"/>
          <a:sy n="115" d="100"/>
        </p:scale>
        <p:origin x="224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6F8AD-2C0F-9B77-E8CC-068832A88F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33D113-E3CA-0111-7165-6C58527B80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46C96-238E-7A91-7040-BDA17812B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04903-A3D4-B445-9B4D-4BF0E4B67C22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ADE0D-E81E-8983-B127-83633487E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DF124-F647-7EAE-F51C-B9AB97934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57EA-A085-944C-BBCF-EBCEA72C4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149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F9156-0CBC-82A7-67FD-FF4C2530B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C4D02-D982-C06B-0DDA-04B9E065A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1F3B4-BBCC-C81A-9F9D-F699C72A1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04903-A3D4-B445-9B4D-4BF0E4B67C22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7A1FD-714D-1184-B71C-55D06C41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84DD0-62DF-4EB4-D417-E9FB3315E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57EA-A085-944C-BBCF-EBCEA72C4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439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9041C-382A-0668-3CEB-2617946DD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70036-DD2E-67D8-57F4-D2C0C2408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6D10D-7FAF-5B47-4CF9-DBD740DF0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04903-A3D4-B445-9B4D-4BF0E4B67C22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2260B-3CDD-C7E7-E5C3-15357CDDF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2DE24-E346-6BD7-6F5C-67876E124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57EA-A085-944C-BBCF-EBCEA72C4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341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88F7F-EAE2-5B51-F9B4-5F2799B62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B5660-4416-D1FE-2B15-072585401B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D6541C-E91B-EB1A-22E2-CD62E315A3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627272-D68A-84A4-4E96-68F1C53B5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04903-A3D4-B445-9B4D-4BF0E4B67C22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4002A-C7DF-D599-0AC1-A0407B742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0800ED-DFA3-6952-65EF-4586D8B5F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57EA-A085-944C-BBCF-EBCEA72C4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978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81E5A-B414-31A1-3311-088921E2B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586E15-A287-5090-69A4-C79468481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515A7-E5A5-3F5C-1753-2039283262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611626-F47A-29F5-B358-CEEB4D304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8FBD9F-7847-87A4-CA99-6869685FE6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7D75A4-F20B-7961-5BF9-F4FD90509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04903-A3D4-B445-9B4D-4BF0E4B67C22}" type="datetimeFigureOut">
              <a:rPr lang="en-US" smtClean="0"/>
              <a:t>9/25/25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C6CF26-C182-3F06-110F-4A07026BB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85765E-9176-2B51-5C34-05D3A41D7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57EA-A085-944C-BBCF-EBCEA72C4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983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0F97F-48FC-5BA4-ED32-3FE84D33F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E13F09-F3F3-4EC1-7236-7705C94E0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04903-A3D4-B445-9B4D-4BF0E4B67C22}" type="datetimeFigureOut">
              <a:rPr lang="en-US" smtClean="0"/>
              <a:t>9/25/25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8E02C6-5CE5-CC2B-1EE9-5AF4DA804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C99F84-A0E6-442E-2DDF-C0B4A4CAC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57EA-A085-944C-BBCF-EBCEA72C4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92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3BB942-CF97-B1FC-E140-B5E20BDF9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04903-A3D4-B445-9B4D-4BF0E4B67C22}" type="datetimeFigureOut">
              <a:rPr lang="en-US" smtClean="0"/>
              <a:t>9/25/25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3E0E4-7B7E-7795-B298-C1943A10A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A07E5-EBD4-1617-4D6D-315A5B3CC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57EA-A085-944C-BBCF-EBCEA72C4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71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FB878-6218-34FA-CF00-C28FB5F84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E3B9B-0ED3-5C5B-6C69-842BA4A13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2193C8-8B53-4C80-C474-9BB856C52E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666E76-054E-C056-879D-4628331EA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04903-A3D4-B445-9B4D-4BF0E4B67C22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207E89-771E-2CC9-879B-CFC7F7780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CC64F-DDC5-709C-C0CA-811FD1411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57EA-A085-944C-BBCF-EBCEA72C4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030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E37E0-1751-176A-4CEF-BFBB47332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BB873C-4FEF-D727-652F-D3C816BE39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54D4E0-9696-8701-2161-66CD50B203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C50653-07EC-C8F3-0418-0B008F1F8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04903-A3D4-B445-9B4D-4BF0E4B67C22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16213-B5A0-97B5-2805-2BE77BEC2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1A340-CD63-6B57-2EC0-836AABC37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57EA-A085-944C-BBCF-EBCEA72C4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913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FE0EE-9279-2CA3-3CE6-ACDF7E377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5D53D1-D5E4-9BFF-6B39-4389204347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5905E-9861-9AF9-0032-08FA5D61C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04903-A3D4-B445-9B4D-4BF0E4B67C22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88BEE-1127-11DE-9D9E-04B6785B9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E6FF7-13D2-72BB-BA6D-D45C48CD5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57EA-A085-944C-BBCF-EBCEA72C4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44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0BEE28-D0FC-9AE5-9C92-72BE964EFB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6FA5BB-AE6B-F41A-D5A9-C3D6BF167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4F33A-4ED3-DAAC-A117-4F5201DD9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04903-A3D4-B445-9B4D-4BF0E4B67C22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91108-C487-2EC7-BD15-2CDC06EC7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B2652-92B6-AFC1-054F-7C6C4B9F8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57EA-A085-944C-BBCF-EBCEA72C4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707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7D582B-EE61-2296-2853-77B74ABE0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35CA7-E191-C778-2237-EC8E7B399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68A8F-BCDC-DB22-CEE5-F2229446FB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E04903-A3D4-B445-9B4D-4BF0E4B67C22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E2DF2-1D0E-86F1-8FF1-586EA4914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0ABC9-240E-467F-3949-8DCC19DA77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0857EA-A085-944C-BBCF-EBCEA72C4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563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63C47-D9A4-9B20-D7A0-3B199DD8AD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Quote AI API</a:t>
            </a:r>
          </a:p>
        </p:txBody>
      </p:sp>
    </p:spTree>
    <p:extLst>
      <p:ext uri="{BB962C8B-B14F-4D97-AF65-F5344CB8AC3E}">
        <p14:creationId xmlns:p14="http://schemas.microsoft.com/office/powerpoint/2010/main" val="2981618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DC22A-F00C-0DCF-6FC0-76734B76E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(Part 1)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4C373A6-0090-B234-7970-4280C49C2600}"/>
              </a:ext>
            </a:extLst>
          </p:cNvPr>
          <p:cNvSpPr/>
          <p:nvPr/>
        </p:nvSpPr>
        <p:spPr>
          <a:xfrm>
            <a:off x="405055" y="2203643"/>
            <a:ext cx="3836179" cy="52840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Input Payload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A22855A-2F14-C263-8581-B1A946CDA8FE}"/>
              </a:ext>
            </a:extLst>
          </p:cNvPr>
          <p:cNvSpPr/>
          <p:nvPr/>
        </p:nvSpPr>
        <p:spPr>
          <a:xfrm>
            <a:off x="397674" y="3073437"/>
            <a:ext cx="3843560" cy="154316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{"</a:t>
            </a:r>
            <a:r>
              <a:rPr lang="en-US" sz="1200" dirty="0" err="1">
                <a:solidFill>
                  <a:schemeClr val="tx1"/>
                </a:solidFill>
              </a:rPr>
              <a:t>emailSender</a:t>
            </a:r>
            <a:r>
              <a:rPr lang="en-US" sz="1200" dirty="0">
                <a:solidFill>
                  <a:schemeClr val="tx1"/>
                </a:solidFill>
              </a:rPr>
              <a:t>": "</a:t>
            </a:r>
            <a:r>
              <a:rPr lang="en-US" sz="1200" dirty="0" err="1">
                <a:solidFill>
                  <a:schemeClr val="tx1"/>
                </a:solidFill>
              </a:rPr>
              <a:t>abcVendor@xyz.com</a:t>
            </a:r>
            <a:r>
              <a:rPr lang="en-US" sz="1200" dirty="0">
                <a:solidFill>
                  <a:schemeClr val="tx1"/>
                </a:solidFill>
              </a:rPr>
              <a:t>", </a:t>
            </a:r>
          </a:p>
          <a:p>
            <a:r>
              <a:rPr lang="en-US" sz="1200" dirty="0">
                <a:solidFill>
                  <a:schemeClr val="tx1"/>
                </a:solidFill>
              </a:rPr>
              <a:t>"</a:t>
            </a:r>
            <a:r>
              <a:rPr lang="en-US" sz="1200" dirty="0" err="1">
                <a:solidFill>
                  <a:schemeClr val="tx1"/>
                </a:solidFill>
              </a:rPr>
              <a:t>emailSubject</a:t>
            </a:r>
            <a:r>
              <a:rPr lang="en-US" sz="1200" dirty="0">
                <a:solidFill>
                  <a:schemeClr val="tx1"/>
                </a:solidFill>
              </a:rPr>
              <a:t>": "Quote for Activity AC872364",</a:t>
            </a:r>
          </a:p>
          <a:p>
            <a:r>
              <a:rPr lang="en-US" sz="1200" dirty="0">
                <a:solidFill>
                  <a:schemeClr val="tx1"/>
                </a:solidFill>
              </a:rPr>
              <a:t>"</a:t>
            </a:r>
            <a:r>
              <a:rPr lang="en-US" sz="1200" dirty="0" err="1">
                <a:solidFill>
                  <a:schemeClr val="tx1"/>
                </a:solidFill>
              </a:rPr>
              <a:t>emailContent</a:t>
            </a:r>
            <a:r>
              <a:rPr lang="en-US" sz="1200" dirty="0">
                <a:solidFill>
                  <a:schemeClr val="tx1"/>
                </a:solidFill>
              </a:rPr>
              <a:t>": "/* Email body including signatures if any */",</a:t>
            </a:r>
          </a:p>
          <a:p>
            <a:r>
              <a:rPr lang="en-US" sz="1200" dirty="0">
                <a:solidFill>
                  <a:schemeClr val="tx1"/>
                </a:solidFill>
              </a:rPr>
              <a:t>"</a:t>
            </a:r>
            <a:r>
              <a:rPr lang="en-US" sz="1200" dirty="0" err="1">
                <a:solidFill>
                  <a:schemeClr val="tx1"/>
                </a:solidFill>
              </a:rPr>
              <a:t>hasAttachments</a:t>
            </a:r>
            <a:r>
              <a:rPr lang="en-US" sz="1200" dirty="0">
                <a:solidFill>
                  <a:schemeClr val="tx1"/>
                </a:solidFill>
              </a:rPr>
              <a:t>": true,</a:t>
            </a:r>
          </a:p>
          <a:p>
            <a:r>
              <a:rPr lang="en-US" sz="1200" dirty="0">
                <a:solidFill>
                  <a:schemeClr val="tx1"/>
                </a:solidFill>
              </a:rPr>
              <a:t>"</a:t>
            </a:r>
            <a:r>
              <a:rPr lang="en-US" sz="1200" dirty="0" err="1">
                <a:solidFill>
                  <a:schemeClr val="tx1"/>
                </a:solidFill>
              </a:rPr>
              <a:t>attachmentRefs</a:t>
            </a:r>
            <a:r>
              <a:rPr lang="en-US" sz="1200" dirty="0">
                <a:solidFill>
                  <a:schemeClr val="tx1"/>
                </a:solidFill>
              </a:rPr>
              <a:t>":["41847710-677f-478e-ae5d-12c27f66882d.pdf"]}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AA293AC-BD62-D95F-13D9-613924ECB7EB}"/>
              </a:ext>
            </a:extLst>
          </p:cNvPr>
          <p:cNvSpPr/>
          <p:nvPr/>
        </p:nvSpPr>
        <p:spPr>
          <a:xfrm>
            <a:off x="4594193" y="2166472"/>
            <a:ext cx="2152296" cy="52840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Download Attachment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FE34E84-B44E-E3B2-F41E-27A7D5398D9C}"/>
              </a:ext>
            </a:extLst>
          </p:cNvPr>
          <p:cNvSpPr/>
          <p:nvPr/>
        </p:nvSpPr>
        <p:spPr>
          <a:xfrm>
            <a:off x="4594193" y="3013382"/>
            <a:ext cx="2152296" cy="16032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We will create the path using </a:t>
            </a:r>
            <a:r>
              <a:rPr lang="en-US" sz="1200" dirty="0" err="1">
                <a:solidFill>
                  <a:schemeClr val="tx1"/>
                </a:solidFill>
              </a:rPr>
              <a:t>attachmentRefs</a:t>
            </a:r>
            <a:r>
              <a:rPr lang="en-US" sz="1200" dirty="0">
                <a:solidFill>
                  <a:schemeClr val="tx1"/>
                </a:solidFill>
              </a:rPr>
              <a:t> and download the pdf attachment.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2FB3FBB-6C6A-8171-9A69-42B60871CC98}"/>
              </a:ext>
            </a:extLst>
          </p:cNvPr>
          <p:cNvSpPr/>
          <p:nvPr/>
        </p:nvSpPr>
        <p:spPr>
          <a:xfrm>
            <a:off x="7181279" y="2155321"/>
            <a:ext cx="2152296" cy="52840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Quote extraction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9F084A7-F769-F959-BBCA-005422C98965}"/>
              </a:ext>
            </a:extLst>
          </p:cNvPr>
          <p:cNvSpPr/>
          <p:nvPr/>
        </p:nvSpPr>
        <p:spPr>
          <a:xfrm>
            <a:off x="7181279" y="3002231"/>
            <a:ext cx="2152296" cy="16032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Parses the email + pdf and extracts quote details including activity ID, quote values and other details including location.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3645E3B-C549-D307-0CBF-61DA37756D84}"/>
              </a:ext>
            </a:extLst>
          </p:cNvPr>
          <p:cNvSpPr/>
          <p:nvPr/>
        </p:nvSpPr>
        <p:spPr>
          <a:xfrm>
            <a:off x="9723756" y="2155321"/>
            <a:ext cx="2152296" cy="52840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Quote creation 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FE48547-E13E-80D4-C1AF-87BD21F32B82}"/>
              </a:ext>
            </a:extLst>
          </p:cNvPr>
          <p:cNvSpPr/>
          <p:nvPr/>
        </p:nvSpPr>
        <p:spPr>
          <a:xfrm>
            <a:off x="9723756" y="3002231"/>
            <a:ext cx="2152296" cy="16032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Send the output </a:t>
            </a:r>
            <a:r>
              <a:rPr lang="en-US" sz="1200" dirty="0" err="1">
                <a:solidFill>
                  <a:schemeClr val="tx1"/>
                </a:solidFill>
              </a:rPr>
              <a:t>json</a:t>
            </a:r>
            <a:r>
              <a:rPr lang="en-US" sz="1200" dirty="0">
                <a:solidFill>
                  <a:schemeClr val="tx1"/>
                </a:solidFill>
              </a:rPr>
              <a:t> (quote details) through IFM API. 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BD0CBD3-2392-E423-DB42-5EB4DEF46A3E}"/>
              </a:ext>
            </a:extLst>
          </p:cNvPr>
          <p:cNvSpPr/>
          <p:nvPr/>
        </p:nvSpPr>
        <p:spPr>
          <a:xfrm>
            <a:off x="3941900" y="1996942"/>
            <a:ext cx="434898" cy="4151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3CEC1A0-C30D-4597-6354-495001A2CC14}"/>
              </a:ext>
            </a:extLst>
          </p:cNvPr>
          <p:cNvSpPr/>
          <p:nvPr/>
        </p:nvSpPr>
        <p:spPr>
          <a:xfrm>
            <a:off x="9072286" y="1948620"/>
            <a:ext cx="434898" cy="41514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408CF95-D113-F68E-57AB-433EFB88588B}"/>
              </a:ext>
            </a:extLst>
          </p:cNvPr>
          <p:cNvSpPr/>
          <p:nvPr/>
        </p:nvSpPr>
        <p:spPr>
          <a:xfrm>
            <a:off x="6420646" y="1940313"/>
            <a:ext cx="434898" cy="4151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7F8F55D-8010-D167-81B0-ED3E02EC2DC2}"/>
              </a:ext>
            </a:extLst>
          </p:cNvPr>
          <p:cNvSpPr/>
          <p:nvPr/>
        </p:nvSpPr>
        <p:spPr>
          <a:xfrm>
            <a:off x="11657726" y="1960645"/>
            <a:ext cx="434898" cy="4151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3745718-51A4-A201-6C6A-D7FBDD214EF3}"/>
              </a:ext>
            </a:extLst>
          </p:cNvPr>
          <p:cNvSpPr/>
          <p:nvPr/>
        </p:nvSpPr>
        <p:spPr>
          <a:xfrm>
            <a:off x="4591736" y="4884232"/>
            <a:ext cx="2152296" cy="89012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Multiple Documents, No document, UUID / Document Name</a:t>
            </a:r>
          </a:p>
        </p:txBody>
      </p:sp>
      <p:sp>
        <p:nvSpPr>
          <p:cNvPr id="17" name="Lightning Bolt 16">
            <a:extLst>
              <a:ext uri="{FF2B5EF4-FFF2-40B4-BE49-F238E27FC236}">
                <a16:creationId xmlns:a16="http://schemas.microsoft.com/office/drawing/2014/main" id="{745F74C0-47AD-6411-9C5F-78CBE7B61A41}"/>
              </a:ext>
            </a:extLst>
          </p:cNvPr>
          <p:cNvSpPr/>
          <p:nvPr/>
        </p:nvSpPr>
        <p:spPr>
          <a:xfrm>
            <a:off x="6434916" y="4770167"/>
            <a:ext cx="501806" cy="412595"/>
          </a:xfrm>
          <a:prstGeom prst="lightningBol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A40595B-F483-E5AD-037A-9E7243BBA892}"/>
              </a:ext>
            </a:extLst>
          </p:cNvPr>
          <p:cNvSpPr/>
          <p:nvPr/>
        </p:nvSpPr>
        <p:spPr>
          <a:xfrm>
            <a:off x="7158481" y="4884232"/>
            <a:ext cx="2152296" cy="89012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Content of the email/attachment might be empty or extraction fails</a:t>
            </a:r>
          </a:p>
        </p:txBody>
      </p:sp>
      <p:sp>
        <p:nvSpPr>
          <p:cNvPr id="20" name="Lightning Bolt 19">
            <a:extLst>
              <a:ext uri="{FF2B5EF4-FFF2-40B4-BE49-F238E27FC236}">
                <a16:creationId xmlns:a16="http://schemas.microsoft.com/office/drawing/2014/main" id="{2D885B80-CE3F-802A-5AA8-96A5231C6699}"/>
              </a:ext>
            </a:extLst>
          </p:cNvPr>
          <p:cNvSpPr/>
          <p:nvPr/>
        </p:nvSpPr>
        <p:spPr>
          <a:xfrm>
            <a:off x="9001661" y="4770167"/>
            <a:ext cx="501806" cy="412595"/>
          </a:xfrm>
          <a:prstGeom prst="lightningBol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941E0A0-CAAB-17B8-757A-C6E922CC1150}"/>
              </a:ext>
            </a:extLst>
          </p:cNvPr>
          <p:cNvSpPr/>
          <p:nvPr/>
        </p:nvSpPr>
        <p:spPr>
          <a:xfrm>
            <a:off x="9723756" y="4884232"/>
            <a:ext cx="2152296" cy="89012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Client API error</a:t>
            </a:r>
          </a:p>
        </p:txBody>
      </p:sp>
      <p:sp>
        <p:nvSpPr>
          <p:cNvPr id="22" name="Lightning Bolt 21">
            <a:extLst>
              <a:ext uri="{FF2B5EF4-FFF2-40B4-BE49-F238E27FC236}">
                <a16:creationId xmlns:a16="http://schemas.microsoft.com/office/drawing/2014/main" id="{B469FC30-9434-F8E8-74EB-9B7544CDECCE}"/>
              </a:ext>
            </a:extLst>
          </p:cNvPr>
          <p:cNvSpPr/>
          <p:nvPr/>
        </p:nvSpPr>
        <p:spPr>
          <a:xfrm>
            <a:off x="11566936" y="4770167"/>
            <a:ext cx="501806" cy="412595"/>
          </a:xfrm>
          <a:prstGeom prst="lightningBol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976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DB6F4-58FB-B099-FE53-3255C8F75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0021E-0EC5-883C-027E-9A45B101C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(Part 2)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2E9EF08-E2E1-3CE0-7026-6DF61E2DC434}"/>
              </a:ext>
            </a:extLst>
          </p:cNvPr>
          <p:cNvSpPr/>
          <p:nvPr/>
        </p:nvSpPr>
        <p:spPr>
          <a:xfrm>
            <a:off x="1442119" y="2460119"/>
            <a:ext cx="2929160" cy="52840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Quote extraction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F3D7E2-4A08-5397-2ADE-CF15B1A8E656}"/>
              </a:ext>
            </a:extLst>
          </p:cNvPr>
          <p:cNvSpPr/>
          <p:nvPr/>
        </p:nvSpPr>
        <p:spPr>
          <a:xfrm>
            <a:off x="1434737" y="3329913"/>
            <a:ext cx="2936541" cy="154316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Parses the email + pdf and extracts quote details including activity ID, quote values and other details including location.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EF0928A-92D9-9438-0504-6C3A3808FA07}"/>
              </a:ext>
            </a:extLst>
          </p:cNvPr>
          <p:cNvSpPr/>
          <p:nvPr/>
        </p:nvSpPr>
        <p:spPr>
          <a:xfrm>
            <a:off x="5099061" y="2429218"/>
            <a:ext cx="2152296" cy="52840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Quote Validation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76205AD-F621-C6C2-5E92-2C82FBBF0F6B}"/>
              </a:ext>
            </a:extLst>
          </p:cNvPr>
          <p:cNvSpPr/>
          <p:nvPr/>
        </p:nvSpPr>
        <p:spPr>
          <a:xfrm>
            <a:off x="5099061" y="3276128"/>
            <a:ext cx="2152296" cy="16032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Sending out as an output the minimum and maximum quote benchmarks and returning whether the vendor’s quoted price is with this range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F7C3DFE-7A44-07A3-4447-9DCCD9EEDCC5}"/>
              </a:ext>
            </a:extLst>
          </p:cNvPr>
          <p:cNvSpPr/>
          <p:nvPr/>
        </p:nvSpPr>
        <p:spPr>
          <a:xfrm>
            <a:off x="8099125" y="1990054"/>
            <a:ext cx="2152296" cy="52840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Web search based benchmarking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1CDF7EC-C476-90ED-497E-E9849BD49908}"/>
              </a:ext>
            </a:extLst>
          </p:cNvPr>
          <p:cNvSpPr/>
          <p:nvPr/>
        </p:nvSpPr>
        <p:spPr>
          <a:xfrm>
            <a:off x="8099125" y="2722753"/>
            <a:ext cx="2152296" cy="82231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Uses </a:t>
            </a:r>
            <a:r>
              <a:rPr lang="en-US" sz="1200" dirty="0" err="1">
                <a:solidFill>
                  <a:schemeClr val="tx1"/>
                </a:solidFill>
              </a:rPr>
              <a:t>websearch</a:t>
            </a:r>
            <a:r>
              <a:rPr lang="en-US" sz="1200" dirty="0">
                <a:solidFill>
                  <a:schemeClr val="tx1"/>
                </a:solidFill>
              </a:rPr>
              <a:t> (Gemini/Google)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36D861E-AA24-F722-2CB1-59ED9A2F0118}"/>
              </a:ext>
            </a:extLst>
          </p:cNvPr>
          <p:cNvSpPr/>
          <p:nvPr/>
        </p:nvSpPr>
        <p:spPr>
          <a:xfrm>
            <a:off x="8099125" y="4321789"/>
            <a:ext cx="2152296" cy="52840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Historical data based benchmarking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7F03644-4AE2-AEBE-1BF2-C9BC573867FE}"/>
              </a:ext>
            </a:extLst>
          </p:cNvPr>
          <p:cNvSpPr/>
          <p:nvPr/>
        </p:nvSpPr>
        <p:spPr>
          <a:xfrm>
            <a:off x="8099125" y="5032301"/>
            <a:ext cx="2152296" cy="88269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Rapid fuzz + Embedding based semantic search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2096106-E10A-81AE-A667-73DD73E4BB95}"/>
              </a:ext>
            </a:extLst>
          </p:cNvPr>
          <p:cNvSpPr/>
          <p:nvPr/>
        </p:nvSpPr>
        <p:spPr>
          <a:xfrm>
            <a:off x="4088783" y="2272002"/>
            <a:ext cx="434898" cy="41514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0A7B848-ADFF-31F2-40EA-C4B0A5851602}"/>
              </a:ext>
            </a:extLst>
          </p:cNvPr>
          <p:cNvSpPr/>
          <p:nvPr/>
        </p:nvSpPr>
        <p:spPr>
          <a:xfrm>
            <a:off x="6952896" y="2252544"/>
            <a:ext cx="434898" cy="4151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B18C4C8-6AD9-42C7-258D-4CA7F9196E14}"/>
              </a:ext>
            </a:extLst>
          </p:cNvPr>
          <p:cNvSpPr/>
          <p:nvPr/>
        </p:nvSpPr>
        <p:spPr>
          <a:xfrm>
            <a:off x="9914533" y="1701286"/>
            <a:ext cx="434898" cy="4151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3414EEF-0C7A-267E-B083-848F718A3C46}"/>
              </a:ext>
            </a:extLst>
          </p:cNvPr>
          <p:cNvSpPr/>
          <p:nvPr/>
        </p:nvSpPr>
        <p:spPr>
          <a:xfrm>
            <a:off x="9947987" y="4036886"/>
            <a:ext cx="434898" cy="4151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41DC2D9-7E5E-3DE6-B946-E154A1AC3134}"/>
              </a:ext>
            </a:extLst>
          </p:cNvPr>
          <p:cNvSpPr/>
          <p:nvPr/>
        </p:nvSpPr>
        <p:spPr>
          <a:xfrm>
            <a:off x="5099061" y="5289614"/>
            <a:ext cx="2152296" cy="89012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If no suggestion is available then return NA, the hist benchmarking file is updated or not</a:t>
            </a:r>
          </a:p>
        </p:txBody>
      </p:sp>
      <p:sp>
        <p:nvSpPr>
          <p:cNvPr id="18" name="Lightning Bolt 17">
            <a:extLst>
              <a:ext uri="{FF2B5EF4-FFF2-40B4-BE49-F238E27FC236}">
                <a16:creationId xmlns:a16="http://schemas.microsoft.com/office/drawing/2014/main" id="{2AAB542D-03DE-E87F-A440-B3546FA1AC04}"/>
              </a:ext>
            </a:extLst>
          </p:cNvPr>
          <p:cNvSpPr/>
          <p:nvPr/>
        </p:nvSpPr>
        <p:spPr>
          <a:xfrm>
            <a:off x="6942241" y="5175549"/>
            <a:ext cx="501806" cy="412595"/>
          </a:xfrm>
          <a:prstGeom prst="lightningBol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98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4033ad9-086f-4644-8250-c4b04e194685}" enabled="1" method="Privileged" siteId="{0159e9d0-09a0-4edf-96ba-a3deea363c2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220</Words>
  <Application>Microsoft Macintosh PowerPoint</Application>
  <PresentationFormat>Widescreen</PresentationFormat>
  <Paragraphs>27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Quote AI API</vt:lpstr>
      <vt:lpstr>WORKFLOW (Part 1)</vt:lpstr>
      <vt:lpstr>WORKFLOW (Part 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Shanker, Ritesh @ Global D&amp;T</dc:creator>
  <cp:lastModifiedBy>Shanker, Ritesh @ Global D&amp;T</cp:lastModifiedBy>
  <cp:revision>1</cp:revision>
  <dcterms:created xsi:type="dcterms:W3CDTF">2025-09-25T06:20:58Z</dcterms:created>
  <dcterms:modified xsi:type="dcterms:W3CDTF">2025-09-25T07:00:28Z</dcterms:modified>
</cp:coreProperties>
</file>